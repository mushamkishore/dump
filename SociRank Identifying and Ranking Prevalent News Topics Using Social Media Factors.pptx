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64" r:id="rId4"/>
    <p:sldId id="274" r:id="rId5"/>
    <p:sldId id="265" r:id="rId6"/>
    <p:sldId id="275" r:id="rId7"/>
    <p:sldId id="266" r:id="rId8"/>
    <p:sldId id="263" r:id="rId9"/>
    <p:sldId id="291" r:id="rId10"/>
    <p:sldId id="279" r:id="rId11"/>
    <p:sldId id="292" r:id="rId12"/>
    <p:sldId id="283" r:id="rId13"/>
    <p:sldId id="285" r:id="rId14"/>
    <p:sldId id="286" r:id="rId15"/>
    <p:sldId id="289" r:id="rId16"/>
    <p:sldId id="290" r:id="rId17"/>
    <p:sldId id="270" r:id="rId1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620"/>
    <p:restoredTop sz="94660"/>
  </p:normalViewPr>
  <p:slideViewPr>
    <p:cSldViewPr>
      <p:cViewPr varScale="1">
        <p:scale>
          <a:sx n="72" d="100"/>
          <a:sy n="72" d="100"/>
        </p:scale>
        <p:origin x="-1104" y="-102"/>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9/26/2018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9/26/2018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9/26/2018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9/26/2018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9/26/2018</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9/26/2018</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9/26/2018</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9/26/2018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9/26/2018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9/26/2018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9/26/2018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9/26/2018</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1752600"/>
            <a:ext cx="8229600" cy="2438400"/>
          </a:xfrm>
        </p:spPr>
        <p:txBody>
          <a:bodyPr>
            <a:normAutofit/>
          </a:bodyPr>
          <a:lstStyle/>
          <a:p>
            <a:r>
              <a:rPr lang="en-US" sz="3200" b="1" dirty="0" err="1" smtClean="0"/>
              <a:t>SociRank</a:t>
            </a:r>
            <a:r>
              <a:rPr lang="en-US" sz="3200" b="1" dirty="0" smtClean="0"/>
              <a:t> Identifying and Ranking Prevalent News Topics Using Social Media Factors</a:t>
            </a:r>
            <a:endParaRPr lang="en-US" sz="3200" b="1" dirty="0">
              <a:latin typeface="Times New Roman" pitchFamily="18" charset="0"/>
              <a:cs typeface="Times New Roman"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0"/>
            <a:ext cx="8229600" cy="1143000"/>
          </a:xfrm>
        </p:spPr>
        <p:txBody>
          <a:bodyPr>
            <a:normAutofit/>
          </a:bodyPr>
          <a:lstStyle/>
          <a:p>
            <a:r>
              <a:rPr lang="en-US" sz="2400" b="1" dirty="0" smtClean="0">
                <a:latin typeface="Times New Roman" pitchFamily="18" charset="0"/>
                <a:cs typeface="Times New Roman" pitchFamily="18" charset="0"/>
              </a:rPr>
              <a:t>Abstract</a:t>
            </a:r>
            <a:endParaRPr lang="en-US" sz="2400" b="1" dirty="0">
              <a:latin typeface="Times New Roman" pitchFamily="18" charset="0"/>
              <a:cs typeface="Times New Roman" pitchFamily="18" charset="0"/>
            </a:endParaRPr>
          </a:p>
        </p:txBody>
      </p:sp>
      <p:sp>
        <p:nvSpPr>
          <p:cNvPr id="5" name="Content Placeholder 4"/>
          <p:cNvSpPr>
            <a:spLocks noGrp="1"/>
          </p:cNvSpPr>
          <p:nvPr>
            <p:ph idx="1"/>
          </p:nvPr>
        </p:nvSpPr>
        <p:spPr>
          <a:xfrm>
            <a:off x="381000" y="1219200"/>
            <a:ext cx="8305800" cy="5181600"/>
          </a:xfrm>
        </p:spPr>
        <p:txBody>
          <a:bodyPr>
            <a:normAutofit fontScale="92500" lnSpcReduction="20000"/>
          </a:bodyPr>
          <a:lstStyle/>
          <a:p>
            <a:pPr algn="just">
              <a:lnSpc>
                <a:spcPct val="150000"/>
              </a:lnSpc>
            </a:pPr>
            <a:r>
              <a:rPr lang="en-US" sz="1600" dirty="0" smtClean="0"/>
              <a:t>Mass media sources, specifically the news media, have traditionally informed us of daily events. In modern times, social media services such as Twitter provide an enormous amount of user-generated data, which have great potential to contain informative news-related content. For these resources to be useful, we must find a way to filter noise and only capture the content that, based on its similarity to the news media, is considered valuable. However, even after noise is removed, information overload may still exist in the remaining data—hence, it is convenient to prioritize it for consumption. To achieve prioritization, information must be ranked in order of estimated importance considering three factors. First, the temporal prevalence of a particular topic in the news media is a factor of importance, and can be considered the media focus (MF) of a topic. Second, the temporal prevalence of the topic in social media indicates its user attention (UA). Last, the interaction between the social media users who mention this topic indicates the strength of the community discussing it, and can be regarded as the user interaction (UI) toward the topic. We propose an unsupervised framework—</a:t>
            </a:r>
            <a:r>
              <a:rPr lang="en-US" sz="1600" dirty="0" err="1" smtClean="0"/>
              <a:t>SociRank</a:t>
            </a:r>
            <a:r>
              <a:rPr lang="en-US" sz="1600" dirty="0" smtClean="0"/>
              <a:t>—which identifies news topics prevalent in both social media and the news media, and then ranks them by relevance using their degrees of MF, UA, and UI. Our experiments show that </a:t>
            </a:r>
            <a:r>
              <a:rPr lang="en-US" sz="1600" dirty="0" err="1" smtClean="0"/>
              <a:t>SociRank</a:t>
            </a:r>
            <a:r>
              <a:rPr lang="en-US" sz="1600" dirty="0" smtClean="0"/>
              <a:t> improves the quality and variety of automatically identified news </a:t>
            </a:r>
            <a:r>
              <a:rPr lang="en-US" sz="1600" dirty="0" smtClean="0"/>
              <a:t>topics.</a:t>
            </a:r>
            <a:endParaRPr lang="en-US" sz="1600" dirty="0">
              <a:latin typeface="Times New Roman" pitchFamily="18" charset="0"/>
              <a:cs typeface="Times New Roman"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143000"/>
          </a:xfrm>
        </p:spPr>
        <p:txBody>
          <a:bodyPr>
            <a:normAutofit/>
          </a:bodyPr>
          <a:lstStyle/>
          <a:p>
            <a:pPr>
              <a:lnSpc>
                <a:spcPct val="150000"/>
              </a:lnSpc>
            </a:pPr>
            <a:r>
              <a:rPr lang="en-US" sz="2400" b="1" dirty="0" smtClean="0">
                <a:latin typeface="Times New Roman" pitchFamily="18" charset="0"/>
                <a:cs typeface="Times New Roman" pitchFamily="18" charset="0"/>
              </a:rPr>
              <a:t>Existing System</a:t>
            </a:r>
            <a:endParaRPr lang="en-US" sz="2400" dirty="0">
              <a:latin typeface="Times New Roman" pitchFamily="18" charset="0"/>
              <a:cs typeface="Times New Roman" pitchFamily="18" charset="0"/>
            </a:endParaRPr>
          </a:p>
        </p:txBody>
      </p:sp>
      <p:sp>
        <p:nvSpPr>
          <p:cNvPr id="3" name="Content Placeholder 2"/>
          <p:cNvSpPr>
            <a:spLocks noGrp="1"/>
          </p:cNvSpPr>
          <p:nvPr>
            <p:ph idx="1"/>
          </p:nvPr>
        </p:nvSpPr>
        <p:spPr>
          <a:xfrm>
            <a:off x="0" y="1066800"/>
            <a:ext cx="8915400" cy="4800600"/>
          </a:xfrm>
        </p:spPr>
        <p:txBody>
          <a:bodyPr>
            <a:noAutofit/>
          </a:bodyPr>
          <a:lstStyle/>
          <a:p>
            <a:pPr lvl="0"/>
            <a:r>
              <a:rPr lang="en-US" sz="2000" dirty="0" err="1" smtClean="0"/>
              <a:t>Wartena</a:t>
            </a:r>
            <a:r>
              <a:rPr lang="en-US" sz="2000" dirty="0" smtClean="0"/>
              <a:t> and </a:t>
            </a:r>
            <a:r>
              <a:rPr lang="en-US" sz="2000" dirty="0" err="1" smtClean="0"/>
              <a:t>Brussee</a:t>
            </a:r>
            <a:r>
              <a:rPr lang="en-US" sz="2000" dirty="0" smtClean="0"/>
              <a:t> [4] implemented a method to detect topics by clustering keywords. Their method entails the clustering of keywords—based on different similarity measures—using the induced k-bisecting clustering algorithm. Although they do not employ the use of graphs, they do observe that a distance measure based on the Jensen–Shannon divergence (or information radius) of probability distributions performs well.</a:t>
            </a:r>
          </a:p>
          <a:p>
            <a:pPr lvl="0"/>
            <a:r>
              <a:rPr lang="en-US" sz="2000" dirty="0" smtClean="0"/>
              <a:t>More </a:t>
            </a:r>
            <a:r>
              <a:rPr lang="en-US" sz="2000" dirty="0" smtClean="0"/>
              <a:t>recently, research has been conducted in identifying topics and events from social media data, taking into account temporal information. </a:t>
            </a:r>
            <a:r>
              <a:rPr lang="en-US" sz="2000" dirty="0" err="1" smtClean="0"/>
              <a:t>Cataldi</a:t>
            </a:r>
            <a:r>
              <a:rPr lang="en-US" sz="2000" dirty="0" smtClean="0"/>
              <a:t> et al. [7] proposed a topic detection technique that retrieves real-time emerging topics from Twitter. Their methods uses the set of terms from tweets and model their life cycle according to a novel aging theory. </a:t>
            </a:r>
          </a:p>
          <a:p>
            <a:r>
              <a:rPr lang="en-US" sz="2000" dirty="0" smtClean="0"/>
              <a:t> </a:t>
            </a:r>
            <a:r>
              <a:rPr lang="en-US" sz="2000" dirty="0" smtClean="0"/>
              <a:t>Additionally</a:t>
            </a:r>
            <a:r>
              <a:rPr lang="en-US" sz="2000" dirty="0" smtClean="0"/>
              <a:t>, they take into account social relationships—more specifically, the authority of the users in the network—to determine the importance of the topics. Zhao et al. [8] carried out similar work by developing a Twitter-LDA model designed to identify topics in tweets. Their work, however, only considers the personal interests of users, and not prevalent topics at a global scale</a:t>
            </a:r>
            <a:endParaRPr lang="en-US" sz="2000" dirty="0">
              <a:latin typeface="Times New Roman" pitchFamily="18" charset="0"/>
              <a:cs typeface="Times New Roman"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Disadvantages</a:t>
            </a:r>
            <a:endParaRPr lang="en-US" dirty="0"/>
          </a:p>
        </p:txBody>
      </p:sp>
      <p:sp>
        <p:nvSpPr>
          <p:cNvPr id="3" name="Content Placeholder 2"/>
          <p:cNvSpPr>
            <a:spLocks noGrp="1"/>
          </p:cNvSpPr>
          <p:nvPr>
            <p:ph idx="1"/>
          </p:nvPr>
        </p:nvSpPr>
        <p:spPr/>
        <p:txBody>
          <a:bodyPr>
            <a:normAutofit/>
          </a:bodyPr>
          <a:lstStyle/>
          <a:p>
            <a:pPr lvl="1">
              <a:buNone/>
            </a:pPr>
            <a:r>
              <a:rPr lang="en-US" dirty="0" smtClean="0"/>
              <a:t>There is no Information filtering for social computing.</a:t>
            </a:r>
            <a:endParaRPr lang="en-US" sz="1600" dirty="0" smtClean="0"/>
          </a:p>
          <a:p>
            <a:pPr>
              <a:buNone/>
            </a:pPr>
            <a:r>
              <a:rPr lang="en-US" dirty="0" smtClean="0"/>
              <a:t>	There </a:t>
            </a:r>
            <a:r>
              <a:rPr lang="en-US" dirty="0" smtClean="0"/>
              <a:t>is anonymous topic ranking</a:t>
            </a:r>
            <a:endParaRPr lang="en-US" sz="4800" dirty="0">
              <a:latin typeface="Times New Roman" pitchFamily="18" charset="0"/>
              <a:cs typeface="Times New Roman"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400" b="1" dirty="0" smtClean="0">
                <a:latin typeface="Times New Roman" pitchFamily="18" charset="0"/>
                <a:cs typeface="Times New Roman" pitchFamily="18" charset="0"/>
              </a:rPr>
              <a:t>Proposed System</a:t>
            </a:r>
            <a:endParaRPr lang="en-US" sz="2400" dirty="0">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lnSpcReduction="10000"/>
          </a:bodyPr>
          <a:lstStyle/>
          <a:p>
            <a:pPr lvl="0"/>
            <a:r>
              <a:rPr lang="en-US" sz="2000" dirty="0" smtClean="0"/>
              <a:t>In the proposed system, the method proposed an unsupervised method— </a:t>
            </a:r>
            <a:r>
              <a:rPr lang="en-US" sz="2000" dirty="0" err="1" smtClean="0"/>
              <a:t>SociRank</a:t>
            </a:r>
            <a:r>
              <a:rPr lang="en-US" sz="2000" dirty="0" smtClean="0"/>
              <a:t>—which identifies news topics prevalent in both social media and the news media, and then ranks them by taking into account their MF, UA, and UI as relevance factors. </a:t>
            </a:r>
          </a:p>
          <a:p>
            <a:pPr>
              <a:buNone/>
            </a:pPr>
            <a:endParaRPr lang="en-US" sz="2000" dirty="0" smtClean="0"/>
          </a:p>
          <a:p>
            <a:pPr lvl="0"/>
            <a:r>
              <a:rPr lang="en-US" sz="2000" dirty="0" smtClean="0"/>
              <a:t>The temporal prevalence of a particular topic in the news media is considered the MF of a topic, which gives us insight into its mass media popularity. The temporal prevalence of the topic in social media, specifically Twitter, indicates user interest, and is considered its UA. </a:t>
            </a:r>
          </a:p>
          <a:p>
            <a:pPr>
              <a:buNone/>
            </a:pPr>
            <a:endParaRPr lang="en-US" sz="2000" dirty="0" smtClean="0"/>
          </a:p>
          <a:p>
            <a:r>
              <a:rPr lang="en-US" sz="2000" dirty="0" smtClean="0"/>
              <a:t>Finally, the interaction between the social media users who mention the topic indicates the strength of the community discussing it, and is considered the UI. To the best of our knowledge, no other work has attempted to employ the use of either the interests of social media users or their social relationships to aid in the ranking of topics</a:t>
            </a:r>
            <a:endParaRPr lang="en-US" sz="2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Advantages</a:t>
            </a:r>
            <a:endParaRPr lang="en-US" dirty="0"/>
          </a:p>
        </p:txBody>
      </p:sp>
      <p:sp>
        <p:nvSpPr>
          <p:cNvPr id="3" name="Content Placeholder 2"/>
          <p:cNvSpPr>
            <a:spLocks noGrp="1"/>
          </p:cNvSpPr>
          <p:nvPr>
            <p:ph idx="1"/>
          </p:nvPr>
        </p:nvSpPr>
        <p:spPr/>
        <p:txBody>
          <a:bodyPr>
            <a:normAutofit/>
          </a:bodyPr>
          <a:lstStyle/>
          <a:p>
            <a:pPr lvl="0"/>
            <a:r>
              <a:rPr lang="en-US" dirty="0" smtClean="0"/>
              <a:t>There is effective Topic Identification and keyword extraction.</a:t>
            </a:r>
          </a:p>
          <a:p>
            <a:r>
              <a:rPr lang="en-US" dirty="0" smtClean="0"/>
              <a:t>Efficient Outlier Detection</a:t>
            </a:r>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400" b="1" dirty="0" smtClean="0">
                <a:latin typeface="Times New Roman" pitchFamily="18" charset="0"/>
                <a:cs typeface="Times New Roman" pitchFamily="18" charset="0"/>
              </a:rPr>
              <a:t>SYSTEM ARCHITECTURE:</a:t>
            </a:r>
            <a:r>
              <a:rPr lang="en-US" sz="2400" dirty="0" smtClean="0">
                <a:latin typeface="Times New Roman" pitchFamily="18" charset="0"/>
                <a:cs typeface="Times New Roman" pitchFamily="18" charset="0"/>
              </a:rPr>
              <a:t/>
            </a:r>
            <a:br>
              <a:rPr lang="en-US" sz="2400" dirty="0" smtClean="0">
                <a:latin typeface="Times New Roman" pitchFamily="18" charset="0"/>
                <a:cs typeface="Times New Roman" pitchFamily="18" charset="0"/>
              </a:rPr>
            </a:br>
            <a:endParaRPr lang="en-US" sz="2400" dirty="0">
              <a:latin typeface="Times New Roman" pitchFamily="18" charset="0"/>
              <a:cs typeface="Times New Roman" pitchFamily="18" charset="0"/>
            </a:endParaRPr>
          </a:p>
        </p:txBody>
      </p:sp>
      <p:pic>
        <p:nvPicPr>
          <p:cNvPr id="4" name="Picture 3"/>
          <p:cNvPicPr/>
          <p:nvPr/>
        </p:nvPicPr>
        <p:blipFill>
          <a:blip r:embed="rId2"/>
          <a:srcRect/>
          <a:stretch>
            <a:fillRect/>
          </a:stretch>
        </p:blipFill>
        <p:spPr bwMode="auto">
          <a:xfrm>
            <a:off x="1905000" y="1143000"/>
            <a:ext cx="5586730" cy="5335905"/>
          </a:xfrm>
          <a:prstGeom prst="rect">
            <a:avLst/>
          </a:prstGeom>
          <a:noFill/>
          <a:ln w="9525">
            <a:noFill/>
            <a:miter lim="800000"/>
            <a:headEnd/>
            <a:tailEnd/>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400" b="1" dirty="0" smtClean="0">
                <a:latin typeface="Times New Roman" pitchFamily="18" charset="0"/>
                <a:cs typeface="Times New Roman" pitchFamily="18" charset="0"/>
              </a:rPr>
              <a:t>SYSTEM REQUIREMENTS</a:t>
            </a:r>
            <a:endParaRPr lang="en-US" sz="2400" dirty="0">
              <a:latin typeface="Times New Roman" pitchFamily="18" charset="0"/>
              <a:cs typeface="Times New Roman" pitchFamily="18" charset="0"/>
            </a:endParaRPr>
          </a:p>
        </p:txBody>
      </p:sp>
      <p:sp>
        <p:nvSpPr>
          <p:cNvPr id="3" name="Content Placeholder 2"/>
          <p:cNvSpPr>
            <a:spLocks noGrp="1"/>
          </p:cNvSpPr>
          <p:nvPr>
            <p:ph idx="1"/>
          </p:nvPr>
        </p:nvSpPr>
        <p:spPr>
          <a:xfrm>
            <a:off x="457200" y="1600200"/>
            <a:ext cx="8229600" cy="5029200"/>
          </a:xfrm>
        </p:spPr>
        <p:txBody>
          <a:bodyPr>
            <a:noAutofit/>
          </a:bodyPr>
          <a:lstStyle/>
          <a:p>
            <a:pPr algn="just">
              <a:lnSpc>
                <a:spcPct val="150000"/>
              </a:lnSpc>
              <a:buNone/>
            </a:pPr>
            <a:r>
              <a:rPr lang="en-US" sz="1600" b="1" dirty="0" smtClean="0">
                <a:latin typeface="Times New Roman" pitchFamily="18" charset="0"/>
                <a:cs typeface="Times New Roman" pitchFamily="18" charset="0"/>
              </a:rPr>
              <a:t>             HARDWARE REQUIREMENTS:</a:t>
            </a:r>
            <a:endParaRPr lang="en-US" sz="1600" dirty="0" smtClean="0">
              <a:latin typeface="Times New Roman" pitchFamily="18" charset="0"/>
              <a:cs typeface="Times New Roman" pitchFamily="18" charset="0"/>
            </a:endParaRPr>
          </a:p>
          <a:p>
            <a:pPr lvl="0" algn="just">
              <a:lnSpc>
                <a:spcPct val="150000"/>
              </a:lnSpc>
            </a:pPr>
            <a:r>
              <a:rPr lang="en-GB" sz="1600" dirty="0" smtClean="0">
                <a:latin typeface="Times New Roman" pitchFamily="18" charset="0"/>
                <a:cs typeface="Times New Roman" pitchFamily="18" charset="0"/>
              </a:rPr>
              <a:t>System		 : Pentium Dual Core.</a:t>
            </a:r>
            <a:endParaRPr lang="en-US" sz="1600" dirty="0" smtClean="0">
              <a:latin typeface="Times New Roman" pitchFamily="18" charset="0"/>
              <a:cs typeface="Times New Roman" pitchFamily="18" charset="0"/>
            </a:endParaRPr>
          </a:p>
          <a:p>
            <a:pPr lvl="0" algn="just">
              <a:lnSpc>
                <a:spcPct val="150000"/>
              </a:lnSpc>
            </a:pPr>
            <a:r>
              <a:rPr lang="en-GB" sz="1600" dirty="0" smtClean="0">
                <a:latin typeface="Times New Roman" pitchFamily="18" charset="0"/>
                <a:cs typeface="Times New Roman" pitchFamily="18" charset="0"/>
              </a:rPr>
              <a:t>Hard Disk        		: 140 GB.</a:t>
            </a:r>
            <a:endParaRPr lang="en-US" sz="1600" dirty="0" smtClean="0">
              <a:latin typeface="Times New Roman" pitchFamily="18" charset="0"/>
              <a:cs typeface="Times New Roman" pitchFamily="18" charset="0"/>
            </a:endParaRPr>
          </a:p>
          <a:p>
            <a:pPr lvl="0" algn="just">
              <a:lnSpc>
                <a:spcPct val="150000"/>
              </a:lnSpc>
            </a:pPr>
            <a:r>
              <a:rPr lang="en-GB" sz="1600" dirty="0" smtClean="0">
                <a:latin typeface="Times New Roman" pitchFamily="18" charset="0"/>
                <a:cs typeface="Times New Roman" pitchFamily="18" charset="0"/>
              </a:rPr>
              <a:t>Floppy Drive		: 1.44 Mb.</a:t>
            </a:r>
            <a:endParaRPr lang="en-US" sz="1600" dirty="0" smtClean="0">
              <a:latin typeface="Times New Roman" pitchFamily="18" charset="0"/>
              <a:cs typeface="Times New Roman" pitchFamily="18" charset="0"/>
            </a:endParaRPr>
          </a:p>
          <a:p>
            <a:pPr lvl="0" algn="just">
              <a:lnSpc>
                <a:spcPct val="150000"/>
              </a:lnSpc>
            </a:pPr>
            <a:r>
              <a:rPr lang="en-GB" sz="1600" dirty="0" smtClean="0">
                <a:latin typeface="Times New Roman" pitchFamily="18" charset="0"/>
                <a:cs typeface="Times New Roman" pitchFamily="18" charset="0"/>
              </a:rPr>
              <a:t>Monitor		</a:t>
            </a:r>
            <a:r>
              <a:rPr lang="en-GB" sz="1600" smtClean="0">
                <a:latin typeface="Times New Roman" pitchFamily="18" charset="0"/>
                <a:cs typeface="Times New Roman" pitchFamily="18" charset="0"/>
              </a:rPr>
              <a:t>: </a:t>
            </a:r>
            <a:r>
              <a:rPr lang="en-GB" sz="1600" smtClean="0"/>
              <a:t>15’’ LED</a:t>
            </a:r>
            <a:r>
              <a:rPr lang="en-GB" sz="1600" smtClean="0">
                <a:latin typeface="Times New Roman" pitchFamily="18" charset="0"/>
                <a:cs typeface="Times New Roman" pitchFamily="18" charset="0"/>
              </a:rPr>
              <a:t>.</a:t>
            </a:r>
            <a:endParaRPr lang="en-US" sz="1600" dirty="0" smtClean="0">
              <a:latin typeface="Times New Roman" pitchFamily="18" charset="0"/>
              <a:cs typeface="Times New Roman" pitchFamily="18" charset="0"/>
            </a:endParaRPr>
          </a:p>
          <a:p>
            <a:pPr lvl="0" algn="just">
              <a:lnSpc>
                <a:spcPct val="150000"/>
              </a:lnSpc>
            </a:pPr>
            <a:r>
              <a:rPr lang="en-GB" sz="1600" dirty="0" smtClean="0">
                <a:latin typeface="Times New Roman" pitchFamily="18" charset="0"/>
                <a:cs typeface="Times New Roman" pitchFamily="18" charset="0"/>
              </a:rPr>
              <a:t>Mouse			: Logitech.</a:t>
            </a:r>
            <a:endParaRPr lang="en-US" sz="1600" dirty="0" smtClean="0">
              <a:latin typeface="Times New Roman" pitchFamily="18" charset="0"/>
              <a:cs typeface="Times New Roman" pitchFamily="18" charset="0"/>
            </a:endParaRPr>
          </a:p>
          <a:p>
            <a:pPr lvl="0" algn="just">
              <a:lnSpc>
                <a:spcPct val="150000"/>
              </a:lnSpc>
            </a:pPr>
            <a:r>
              <a:rPr lang="en-GB" sz="1600" dirty="0" smtClean="0">
                <a:latin typeface="Times New Roman" pitchFamily="18" charset="0"/>
                <a:cs typeface="Times New Roman" pitchFamily="18" charset="0"/>
              </a:rPr>
              <a:t>Ram			: 1GB.</a:t>
            </a:r>
            <a:r>
              <a:rPr lang="en-US" sz="1600" b="1" dirty="0" smtClean="0">
                <a:latin typeface="Times New Roman" pitchFamily="18" charset="0"/>
                <a:cs typeface="Times New Roman" pitchFamily="18" charset="0"/>
              </a:rPr>
              <a:t> </a:t>
            </a:r>
            <a:endParaRPr lang="en-US" sz="1600" dirty="0" smtClean="0">
              <a:latin typeface="Times New Roman" pitchFamily="18" charset="0"/>
              <a:cs typeface="Times New Roman" pitchFamily="18" charset="0"/>
            </a:endParaRPr>
          </a:p>
          <a:p>
            <a:pPr algn="just">
              <a:lnSpc>
                <a:spcPct val="150000"/>
              </a:lnSpc>
              <a:buNone/>
            </a:pPr>
            <a:r>
              <a:rPr lang="en-US" sz="1600" b="1" dirty="0" smtClean="0">
                <a:latin typeface="Times New Roman" pitchFamily="18" charset="0"/>
                <a:cs typeface="Times New Roman" pitchFamily="18" charset="0"/>
              </a:rPr>
              <a:t>        SOFTWARE REQUIREMENTS:</a:t>
            </a:r>
            <a:endParaRPr lang="en-US" sz="1600" dirty="0" smtClean="0">
              <a:latin typeface="Times New Roman" pitchFamily="18" charset="0"/>
              <a:cs typeface="Times New Roman" pitchFamily="18" charset="0"/>
            </a:endParaRPr>
          </a:p>
          <a:p>
            <a:pPr lvl="0" algn="just">
              <a:lnSpc>
                <a:spcPct val="150000"/>
              </a:lnSpc>
            </a:pPr>
            <a:r>
              <a:rPr lang="en-US" sz="1600" dirty="0" smtClean="0">
                <a:latin typeface="Times New Roman" pitchFamily="18" charset="0"/>
                <a:cs typeface="Times New Roman" pitchFamily="18" charset="0"/>
              </a:rPr>
              <a:t>Operating system 		: Windows XP/7.</a:t>
            </a:r>
          </a:p>
          <a:p>
            <a:pPr lvl="0" algn="just">
              <a:lnSpc>
                <a:spcPct val="150000"/>
              </a:lnSpc>
            </a:pPr>
            <a:r>
              <a:rPr lang="en-US" sz="1600" dirty="0" smtClean="0">
                <a:latin typeface="Times New Roman" pitchFamily="18" charset="0"/>
                <a:cs typeface="Times New Roman" pitchFamily="18" charset="0"/>
              </a:rPr>
              <a:t>Coding Language		:  JAVA/J2EE</a:t>
            </a:r>
          </a:p>
          <a:p>
            <a:pPr lvl="0" algn="just">
              <a:lnSpc>
                <a:spcPct val="150000"/>
              </a:lnSpc>
            </a:pPr>
            <a:r>
              <a:rPr lang="en-US" sz="1600" dirty="0" smtClean="0">
                <a:latin typeface="Times New Roman" pitchFamily="18" charset="0"/>
                <a:cs typeface="Times New Roman" pitchFamily="18" charset="0"/>
              </a:rPr>
              <a:t>Data Base		:  MYSQL</a:t>
            </a:r>
          </a:p>
          <a:p>
            <a:pPr algn="just">
              <a:lnSpc>
                <a:spcPct val="150000"/>
              </a:lnSpc>
            </a:pPr>
            <a:endParaRPr lang="en-US" sz="1600" dirty="0">
              <a:latin typeface="Times New Roman" pitchFamily="18" charset="0"/>
              <a:cs typeface="Times New Roman"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DFD</a:t>
            </a:r>
            <a:endParaRPr lang="en-US" dirty="0"/>
          </a:p>
        </p:txBody>
      </p:sp>
      <p:pic>
        <p:nvPicPr>
          <p:cNvPr id="4" name="Picture 3"/>
          <p:cNvPicPr/>
          <p:nvPr/>
        </p:nvPicPr>
        <p:blipFill>
          <a:blip r:embed="rId2"/>
          <a:srcRect/>
          <a:stretch>
            <a:fillRect/>
          </a:stretch>
        </p:blipFill>
        <p:spPr bwMode="auto">
          <a:xfrm>
            <a:off x="1828800" y="1692910"/>
            <a:ext cx="5415915" cy="5165090"/>
          </a:xfrm>
          <a:prstGeom prst="rect">
            <a:avLst/>
          </a:prstGeom>
          <a:noFill/>
          <a:ln w="9525">
            <a:noFill/>
            <a:miter lim="800000"/>
            <a:headEnd/>
            <a:tailEnd/>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228600"/>
            <a:ext cx="7239000" cy="1143000"/>
          </a:xfrm>
        </p:spPr>
        <p:txBody>
          <a:bodyPr/>
          <a:lstStyle/>
          <a:p>
            <a:pPr algn="l"/>
            <a:r>
              <a:rPr lang="en-US" dirty="0" smtClean="0"/>
              <a:t>Use Case</a:t>
            </a:r>
            <a:endParaRPr lang="en-US" dirty="0"/>
          </a:p>
        </p:txBody>
      </p:sp>
      <p:pic>
        <p:nvPicPr>
          <p:cNvPr id="6" name="Picture 5"/>
          <p:cNvPicPr/>
          <p:nvPr/>
        </p:nvPicPr>
        <p:blipFill>
          <a:blip r:embed="rId2"/>
          <a:srcRect/>
          <a:stretch>
            <a:fillRect/>
          </a:stretch>
        </p:blipFill>
        <p:spPr bwMode="auto">
          <a:xfrm>
            <a:off x="2225674" y="1143000"/>
            <a:ext cx="5699125" cy="5257800"/>
          </a:xfrm>
          <a:prstGeom prst="rect">
            <a:avLst/>
          </a:prstGeom>
          <a:noFill/>
          <a:ln w="9525">
            <a:noFill/>
            <a:miter lim="800000"/>
            <a:headEnd/>
            <a:tailEnd/>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228600"/>
            <a:ext cx="7239000" cy="1143000"/>
          </a:xfrm>
        </p:spPr>
        <p:txBody>
          <a:bodyPr/>
          <a:lstStyle/>
          <a:p>
            <a:pPr algn="l"/>
            <a:r>
              <a:rPr lang="en-US" dirty="0" smtClean="0"/>
              <a:t>Use Case</a:t>
            </a:r>
            <a:endParaRPr lang="en-US" dirty="0"/>
          </a:p>
        </p:txBody>
      </p:sp>
      <p:pic>
        <p:nvPicPr>
          <p:cNvPr id="4" name="Picture 3"/>
          <p:cNvPicPr/>
          <p:nvPr/>
        </p:nvPicPr>
        <p:blipFill>
          <a:blip r:embed="rId2"/>
          <a:srcRect/>
          <a:stretch>
            <a:fillRect/>
          </a:stretch>
        </p:blipFill>
        <p:spPr bwMode="auto">
          <a:xfrm>
            <a:off x="2819400" y="1219200"/>
            <a:ext cx="4461510" cy="5144770"/>
          </a:xfrm>
          <a:prstGeom prst="rect">
            <a:avLst/>
          </a:prstGeom>
          <a:noFill/>
          <a:ln w="9525">
            <a:noFill/>
            <a:miter lim="800000"/>
            <a:headEnd/>
            <a:tailEnd/>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Output Screens</a:t>
            </a:r>
            <a:endParaRPr lang="en-US" dirty="0"/>
          </a:p>
        </p:txBody>
      </p:sp>
      <p:pic>
        <p:nvPicPr>
          <p:cNvPr id="4" name="Picture 3"/>
          <p:cNvPicPr/>
          <p:nvPr/>
        </p:nvPicPr>
        <p:blipFill>
          <a:blip r:embed="rId2"/>
          <a:srcRect/>
          <a:stretch>
            <a:fillRect/>
          </a:stretch>
        </p:blipFill>
        <p:spPr bwMode="auto">
          <a:xfrm>
            <a:off x="533400" y="1371600"/>
            <a:ext cx="8077200" cy="5181600"/>
          </a:xfrm>
          <a:prstGeom prst="rect">
            <a:avLst/>
          </a:prstGeom>
          <a:noFill/>
          <a:ln w="9525">
            <a:noFill/>
            <a:miter lim="800000"/>
            <a:headEnd/>
            <a:tailEnd/>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Output Screens</a:t>
            </a:r>
            <a:endParaRPr lang="en-US" dirty="0"/>
          </a:p>
        </p:txBody>
      </p:sp>
      <p:pic>
        <p:nvPicPr>
          <p:cNvPr id="5" name="Picture 4"/>
          <p:cNvPicPr/>
          <p:nvPr/>
        </p:nvPicPr>
        <p:blipFill>
          <a:blip r:embed="rId2"/>
          <a:srcRect/>
          <a:stretch>
            <a:fillRect/>
          </a:stretch>
        </p:blipFill>
        <p:spPr bwMode="auto">
          <a:xfrm>
            <a:off x="685800" y="1447800"/>
            <a:ext cx="7848600" cy="5105400"/>
          </a:xfrm>
          <a:prstGeom prst="rect">
            <a:avLst/>
          </a:prstGeom>
          <a:noFill/>
          <a:ln w="9525">
            <a:noFill/>
            <a:miter lim="800000"/>
            <a:headEnd/>
            <a:tailEnd/>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Output Screens</a:t>
            </a:r>
            <a:endParaRPr lang="en-US" dirty="0"/>
          </a:p>
        </p:txBody>
      </p:sp>
      <p:pic>
        <p:nvPicPr>
          <p:cNvPr id="4" name="Picture 3"/>
          <p:cNvPicPr/>
          <p:nvPr/>
        </p:nvPicPr>
        <p:blipFill>
          <a:blip r:embed="rId2"/>
          <a:srcRect/>
          <a:stretch>
            <a:fillRect/>
          </a:stretch>
        </p:blipFill>
        <p:spPr bwMode="auto">
          <a:xfrm>
            <a:off x="685800" y="1447800"/>
            <a:ext cx="7772400" cy="4724400"/>
          </a:xfrm>
          <a:prstGeom prst="rect">
            <a:avLst/>
          </a:prstGeom>
          <a:noFill/>
          <a:ln w="9525">
            <a:noFill/>
            <a:miter lim="800000"/>
            <a:headEnd/>
            <a:tailEnd/>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CONCLUSIONS</a:t>
            </a:r>
            <a:endParaRPr lang="en-US" dirty="0"/>
          </a:p>
        </p:txBody>
      </p:sp>
      <p:sp>
        <p:nvSpPr>
          <p:cNvPr id="3" name="Content Placeholder 2"/>
          <p:cNvSpPr>
            <a:spLocks noGrp="1"/>
          </p:cNvSpPr>
          <p:nvPr>
            <p:ph idx="1"/>
          </p:nvPr>
        </p:nvSpPr>
        <p:spPr>
          <a:xfrm>
            <a:off x="228600" y="1219200"/>
            <a:ext cx="8686800" cy="5105400"/>
          </a:xfrm>
        </p:spPr>
        <p:txBody>
          <a:bodyPr>
            <a:noAutofit/>
          </a:bodyPr>
          <a:lstStyle/>
          <a:p>
            <a:pPr algn="just"/>
            <a:r>
              <a:rPr lang="en-US" sz="2400" dirty="0" smtClean="0"/>
              <a:t>In this paper, we proposed an unsupervised method— </a:t>
            </a:r>
            <a:r>
              <a:rPr lang="en-US" sz="2400" dirty="0" err="1" smtClean="0"/>
              <a:t>SociRank</a:t>
            </a:r>
            <a:r>
              <a:rPr lang="en-US" sz="2400" dirty="0" smtClean="0"/>
              <a:t>—which identifies news topics prevalent in </a:t>
            </a:r>
            <a:r>
              <a:rPr lang="en-US" sz="2400" dirty="0" smtClean="0"/>
              <a:t>both social </a:t>
            </a:r>
            <a:r>
              <a:rPr lang="en-US" sz="2400" dirty="0" smtClean="0"/>
              <a:t>media and the news media, and then ranks them by taking into account their MF, UA, and UI as relevance factors. The temporal prevalence of a particular topic in the news media is considered the MF of a topic, which gives us insight into its mass media popularity. The temporal prevalence of the topic in social media, specifically Twitter, indicates user interest, and is considered its UA. Finally, the interaction between the social media users who mention the topic indicates the strength of the community discussing it, and is considered the UI. To the best of our knowledge, no other work has attempted to employ the use of either the interests of social media users or their social relationships to aid in the ranking of topics.</a:t>
            </a:r>
            <a:endParaRPr lang="en-US" sz="2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Future Work</a:t>
            </a:r>
            <a:endParaRPr lang="en-US" dirty="0"/>
          </a:p>
        </p:txBody>
      </p:sp>
      <p:sp>
        <p:nvSpPr>
          <p:cNvPr id="3" name="Content Placeholder 2"/>
          <p:cNvSpPr>
            <a:spLocks noGrp="1"/>
          </p:cNvSpPr>
          <p:nvPr>
            <p:ph idx="1"/>
          </p:nvPr>
        </p:nvSpPr>
        <p:spPr/>
        <p:txBody>
          <a:bodyPr>
            <a:normAutofit fontScale="85000" lnSpcReduction="20000"/>
          </a:bodyPr>
          <a:lstStyle/>
          <a:p>
            <a:r>
              <a:rPr lang="en-US" dirty="0" smtClean="0"/>
              <a:t>As future work, we intend to perform experiments and expand </a:t>
            </a:r>
            <a:r>
              <a:rPr lang="en-US" dirty="0" err="1" smtClean="0"/>
              <a:t>SocialRank</a:t>
            </a:r>
            <a:r>
              <a:rPr lang="en-US" dirty="0" smtClean="0"/>
              <a:t> on different areas and datasets. Furthermore, we plan to include other forms of UA, such as search engine click-through rates, which can also be integrated into our method to provide even more insight into the true interest of users. Additional experiments will also be performed in different stages of the methodology. For example, a fuzzy clustering approach could be employed in order to obtain overlapping TCs (Section III-C). Lastly, we intend to develop a personalized version of </a:t>
            </a:r>
            <a:r>
              <a:rPr lang="en-US" dirty="0" err="1" smtClean="0"/>
              <a:t>SocialRank</a:t>
            </a:r>
            <a:r>
              <a:rPr lang="en-US" dirty="0" smtClean="0"/>
              <a:t>, where topics are presented differently to each individual user</a:t>
            </a:r>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400" b="1" dirty="0" smtClean="0">
                <a:latin typeface="Times New Roman" pitchFamily="18" charset="0"/>
                <a:cs typeface="Times New Roman" pitchFamily="18" charset="0"/>
              </a:rPr>
              <a:t>REFERENCES</a:t>
            </a:r>
            <a:br>
              <a:rPr lang="en-US" sz="2400" b="1" dirty="0" smtClean="0">
                <a:latin typeface="Times New Roman" pitchFamily="18" charset="0"/>
                <a:cs typeface="Times New Roman" pitchFamily="18" charset="0"/>
              </a:rPr>
            </a:br>
            <a:endParaRPr lang="en-US" sz="2400" b="1" dirty="0">
              <a:latin typeface="Times New Roman" pitchFamily="18" charset="0"/>
              <a:cs typeface="Times New Roman" pitchFamily="18" charset="0"/>
            </a:endParaRPr>
          </a:p>
        </p:txBody>
      </p:sp>
      <p:sp>
        <p:nvSpPr>
          <p:cNvPr id="3" name="Content Placeholder 2"/>
          <p:cNvSpPr>
            <a:spLocks noGrp="1"/>
          </p:cNvSpPr>
          <p:nvPr>
            <p:ph idx="1"/>
          </p:nvPr>
        </p:nvSpPr>
        <p:spPr>
          <a:xfrm>
            <a:off x="457200" y="1600200"/>
            <a:ext cx="8382000" cy="4800600"/>
          </a:xfrm>
        </p:spPr>
        <p:txBody>
          <a:bodyPr>
            <a:noAutofit/>
          </a:bodyPr>
          <a:lstStyle/>
          <a:p>
            <a:r>
              <a:rPr lang="en-US" sz="2000" dirty="0" smtClean="0"/>
              <a:t>[1] D. M. </a:t>
            </a:r>
            <a:r>
              <a:rPr lang="en-US" sz="2000" dirty="0" err="1" smtClean="0"/>
              <a:t>Blei</a:t>
            </a:r>
            <a:r>
              <a:rPr lang="en-US" sz="2000" dirty="0" smtClean="0"/>
              <a:t>, A. Y. Ng, and M. I. Jordan, “Latent </a:t>
            </a:r>
            <a:r>
              <a:rPr lang="en-US" sz="2000" dirty="0" err="1" smtClean="0"/>
              <a:t>Dirichlet</a:t>
            </a:r>
            <a:r>
              <a:rPr lang="en-US" sz="2000" dirty="0" smtClean="0"/>
              <a:t> allocation,” J. Mach. Learn. Res., vol. 3, pp. 993–1022, Jan. 2003.</a:t>
            </a:r>
          </a:p>
          <a:p>
            <a:r>
              <a:rPr lang="en-US" sz="2000" dirty="0" smtClean="0"/>
              <a:t>[2] T. Hofmann, “Probabilistic latent semantic analysis,” in Proc. 15th Conf. Uncertainty </a:t>
            </a:r>
            <a:r>
              <a:rPr lang="en-US" sz="2000" dirty="0" err="1" smtClean="0"/>
              <a:t>Artif</a:t>
            </a:r>
            <a:r>
              <a:rPr lang="en-US" sz="2000" dirty="0" smtClean="0"/>
              <a:t>. </a:t>
            </a:r>
            <a:r>
              <a:rPr lang="en-US" sz="2000" dirty="0" err="1" smtClean="0"/>
              <a:t>Intell</a:t>
            </a:r>
            <a:r>
              <a:rPr lang="en-US" sz="2000" dirty="0" smtClean="0"/>
              <a:t>., 1999, pp. 289–296.</a:t>
            </a:r>
          </a:p>
          <a:p>
            <a:r>
              <a:rPr lang="en-US" sz="2000" dirty="0" smtClean="0"/>
              <a:t>[3] T. Hofmann, “Probabilistic latent semantic indexing,” in Proc. 22</a:t>
            </a:r>
            <a:r>
              <a:rPr lang="en-US" sz="2000" baseline="30000" dirty="0" smtClean="0"/>
              <a:t>nd</a:t>
            </a:r>
            <a:r>
              <a:rPr lang="en-US" sz="2000" dirty="0" smtClean="0"/>
              <a:t> </a:t>
            </a:r>
            <a:r>
              <a:rPr lang="en-US" sz="2000" dirty="0" err="1" smtClean="0"/>
              <a:t>Annu</a:t>
            </a:r>
            <a:r>
              <a:rPr lang="en-US" sz="2000" dirty="0" smtClean="0"/>
              <a:t>. Int. ACM SIGIR Conf. Res. Develop. Inf. Retrieval, Berkeley, CA, USA, 1999, pp. 50–57.</a:t>
            </a:r>
          </a:p>
          <a:p>
            <a:r>
              <a:rPr lang="en-US" sz="2000" dirty="0" smtClean="0"/>
              <a:t>[4] C. </a:t>
            </a:r>
            <a:r>
              <a:rPr lang="en-US" sz="2000" dirty="0" err="1" smtClean="0"/>
              <a:t>Wartena</a:t>
            </a:r>
            <a:r>
              <a:rPr lang="en-US" sz="2000" dirty="0" smtClean="0"/>
              <a:t> and R. </a:t>
            </a:r>
            <a:r>
              <a:rPr lang="en-US" sz="2000" dirty="0" err="1" smtClean="0"/>
              <a:t>Brussee</a:t>
            </a:r>
            <a:r>
              <a:rPr lang="en-US" sz="2000" dirty="0" smtClean="0"/>
              <a:t>, “Topic detection by clustering keywords,” in Proc. 19th Int. Workshop Database Expert Syst. Appl. (DEXA), Turin, Italy, 2008, pp. 54–58.</a:t>
            </a:r>
          </a:p>
          <a:p>
            <a:r>
              <a:rPr lang="en-US" sz="2000" dirty="0" smtClean="0"/>
              <a:t>[5] F. </a:t>
            </a:r>
            <a:r>
              <a:rPr lang="en-US" sz="2000" dirty="0" err="1" smtClean="0"/>
              <a:t>Archetti</a:t>
            </a:r>
            <a:r>
              <a:rPr lang="en-US" sz="2000" dirty="0" smtClean="0"/>
              <a:t>, P. </a:t>
            </a:r>
            <a:r>
              <a:rPr lang="en-US" sz="2000" dirty="0" err="1" smtClean="0"/>
              <a:t>Campanelli</a:t>
            </a:r>
            <a:r>
              <a:rPr lang="en-US" sz="2000" dirty="0" smtClean="0"/>
              <a:t>, E. </a:t>
            </a:r>
            <a:r>
              <a:rPr lang="en-US" sz="2000" dirty="0" err="1" smtClean="0"/>
              <a:t>Fersini</a:t>
            </a:r>
            <a:r>
              <a:rPr lang="en-US" sz="2000" dirty="0" smtClean="0"/>
              <a:t>, and E. Messina, “A hierarchical document clustering environment based on the induced bisecting k-means,” in Proc. 7th Int. Conf. Flexible Query Answering Syst., Milan, Italy, 2006, pp. 257–269. [Online]. </a:t>
            </a:r>
            <a:r>
              <a:rPr lang="en-US" sz="2000" dirty="0" err="1" smtClean="0"/>
              <a:t>Available:http</a:t>
            </a:r>
            <a:r>
              <a:rPr lang="en-US" sz="2000" dirty="0" smtClean="0"/>
              <a:t>://</a:t>
            </a:r>
            <a:r>
              <a:rPr lang="en-US" sz="2000" dirty="0" err="1" smtClean="0"/>
              <a:t>dx.doi.org</a:t>
            </a:r>
            <a:r>
              <a:rPr lang="en-US" sz="2000" dirty="0" smtClean="0"/>
              <a:t>/10.1007/11766254_22.</a:t>
            </a:r>
            <a:endParaRPr lang="en-US" sz="2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80</TotalTime>
  <Words>1115</Words>
  <Application>Microsoft Office PowerPoint</Application>
  <PresentationFormat>On-screen Show (4:3)</PresentationFormat>
  <Paragraphs>48</Paragraphs>
  <Slides>17</Slides>
  <Notes>0</Notes>
  <HiddenSlides>0</HiddenSlides>
  <MMClips>0</MMClips>
  <ScaleCrop>false</ScaleCrop>
  <HeadingPairs>
    <vt:vector size="4" baseType="variant">
      <vt:variant>
        <vt:lpstr>Theme</vt:lpstr>
      </vt:variant>
      <vt:variant>
        <vt:i4>1</vt:i4>
      </vt:variant>
      <vt:variant>
        <vt:lpstr>Slide Titles</vt:lpstr>
      </vt:variant>
      <vt:variant>
        <vt:i4>17</vt:i4>
      </vt:variant>
    </vt:vector>
  </HeadingPairs>
  <TitlesOfParts>
    <vt:vector size="18" baseType="lpstr">
      <vt:lpstr>Office Theme</vt:lpstr>
      <vt:lpstr>SociRank Identifying and Ranking Prevalent News Topics Using Social Media Factors</vt:lpstr>
      <vt:lpstr>Abstract</vt:lpstr>
      <vt:lpstr>Existing System</vt:lpstr>
      <vt:lpstr>Disadvantages</vt:lpstr>
      <vt:lpstr>Proposed System</vt:lpstr>
      <vt:lpstr>Advantages</vt:lpstr>
      <vt:lpstr>SYSTEM ARCHITECTURE: </vt:lpstr>
      <vt:lpstr>SYSTEM REQUIREMENTS</vt:lpstr>
      <vt:lpstr>DFD</vt:lpstr>
      <vt:lpstr>Use Case</vt:lpstr>
      <vt:lpstr>Use Case</vt:lpstr>
      <vt:lpstr>Output Screens</vt:lpstr>
      <vt:lpstr>Output Screens</vt:lpstr>
      <vt:lpstr>Output Screens</vt:lpstr>
      <vt:lpstr>CONCLUSIONS</vt:lpstr>
      <vt:lpstr>Future Work</vt:lpstr>
      <vt:lpstr>REFERENCES </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Work Flow Automation System</dc:title>
  <dc:creator/>
  <cp:lastModifiedBy>admin</cp:lastModifiedBy>
  <cp:revision>95</cp:revision>
  <dcterms:created xsi:type="dcterms:W3CDTF">2006-08-16T00:00:00Z</dcterms:created>
  <dcterms:modified xsi:type="dcterms:W3CDTF">2018-09-26T09:50:20Z</dcterms:modified>
</cp:coreProperties>
</file>